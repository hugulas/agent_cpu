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webp" ContentType="image/webp"/>
  <Default Extension="jpg" ContentType="image/jpe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1" Type="http://schemas.openxmlformats.org/officeDocument/2006/relationships/viewProps" Target="viewProps.xml" /><Relationship Id="rId3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3" Type="http://schemas.openxmlformats.org/officeDocument/2006/relationships/tableStyles" Target="tableStyles.xml" /><Relationship Id="rId3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webp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webp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webp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jp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Agentic AI 推理中机头 CPU 的系统作用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高信息密度汇报稿</a:t>
            </a:r>
            <a:br/>
            <a:br/>
            <a:r>
              <a:rPr/>
              <a:t>OpenAI Codex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2026-04-25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Agentic AI 推理中机头 CPU 的系统作用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范围：只讨论 </a:t>
            </a:r>
            <a:r>
              <a:rPr>
                <a:latin typeface="Courier"/>
              </a:rPr>
              <a:t>agentic LLM inference</a:t>
            </a:r>
            <a:r>
              <a:rPr/>
              <a:t> 对机头 CPU 的影响，不计入工具执行本身的 CPU 消耗</a:t>
            </a:r>
          </a:p>
          <a:p>
            <a:pPr lvl="0"/>
            <a:r>
              <a:rPr/>
              <a:t>时间边界：主体证据采用 </a:t>
            </a:r>
            <a:r>
              <a:rPr>
                <a:latin typeface="Courier"/>
              </a:rPr>
              <a:t>2025-07-01</a:t>
            </a:r>
            <a:r>
              <a:rPr/>
              <a:t> 及之后公开资料</a:t>
            </a:r>
          </a:p>
          <a:p>
            <a:pPr lvl="0"/>
            <a:r>
              <a:rPr/>
              <a:t>主线：</a:t>
            </a:r>
            <a:r>
              <a:rPr>
                <a:latin typeface="Courier"/>
              </a:rPr>
              <a:t>算子下发</a:t>
            </a:r>
            <a:r>
              <a:rPr/>
              <a:t>、</a:t>
            </a:r>
            <a:r>
              <a:rPr>
                <a:latin typeface="Courier"/>
              </a:rPr>
              <a:t>KV 生命周期</a:t>
            </a:r>
            <a:r>
              <a:rPr/>
              <a:t>、</a:t>
            </a:r>
            <a:r>
              <a:rPr>
                <a:latin typeface="Courier"/>
              </a:rPr>
              <a:t>MoE 编排</a:t>
            </a:r>
            <a:r>
              <a:rPr/>
              <a:t>、</a:t>
            </a:r>
            <a:r>
              <a:rPr>
                <a:latin typeface="Courier"/>
              </a:rPr>
              <a:t>真实工作负载</a:t>
            </a:r>
            <a:r>
              <a:rPr/>
              <a:t>、</a:t>
            </a:r>
            <a:r>
              <a:rPr>
                <a:latin typeface="Courier"/>
              </a:rPr>
              <a:t>平台演化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一页结论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机头 CPU 已从传统 host 演化为推理系统的第一层 </a:t>
            </a:r>
            <a:r>
              <a:rPr>
                <a:latin typeface="Courier"/>
              </a:rPr>
              <a:t>orchestrator</a:t>
            </a:r>
          </a:p>
          <a:p>
            <a:pPr lvl="0"/>
            <a:r>
              <a:rPr/>
              <a:t>关键稀缺资源不再只是 GPU FLOPS，而是 </a:t>
            </a:r>
            <a:r>
              <a:rPr>
                <a:latin typeface="Courier"/>
              </a:rPr>
              <a:t>host-side orchestration budget</a:t>
            </a:r>
          </a:p>
          <a:p>
            <a:pPr lvl="0"/>
            <a:r>
              <a:rPr/>
              <a:t>CPU 压力的本质不是“算得慢”，而是控制链路变长：请求接入、阶段切换、状态放置、恢复、跨池传输、专家驻留都在抢占 host 预算</a:t>
            </a:r>
          </a:p>
          <a:p>
            <a:pPr lvl="0"/>
            <a:r>
              <a:rPr>
                <a:latin typeface="Courier"/>
              </a:rPr>
              <a:t>KV</a:t>
            </a:r>
            <a:r>
              <a:rPr/>
              <a:t> 已从容量对象变成生命周期对象；</a:t>
            </a:r>
            <a:r>
              <a:rPr>
                <a:latin typeface="Courier"/>
              </a:rPr>
              <a:t>MoE</a:t>
            </a:r>
            <a:r>
              <a:rPr/>
              <a:t> 减少激活计算但抬高了 host 编排价值</a:t>
            </a:r>
          </a:p>
          <a:p>
            <a:pPr lvl="0"/>
            <a:r>
              <a:rPr>
                <a:latin typeface="Courier"/>
              </a:rPr>
              <a:t>Prefill-as-a-Service</a:t>
            </a:r>
            <a:r>
              <a:rPr/>
              <a:t> 说明 PD 分离正从单集群优化扩展为跨数据中心、带宽感知和 cache-aware 的 CPU 协调问题 [31]</a:t>
            </a:r>
          </a:p>
          <a:p>
            <a:pPr lvl="0"/>
            <a:r>
              <a:rPr/>
              <a:t>平台路线图正在围绕 </a:t>
            </a:r>
            <a:r>
              <a:rPr>
                <a:latin typeface="Courier"/>
              </a:rPr>
              <a:t>CPU as orchestration plane</a:t>
            </a:r>
            <a:r>
              <a:rPr/>
              <a:t> 收敛，CPU:GPU 预算开始重新分配</a:t>
            </a:r>
          </a:p>
          <a:p>
            <a:pPr lvl="0" indent="0" marL="0">
              <a:buNone/>
            </a:pPr>
            <a:r>
              <a:rPr/>
              <a:t>来源：[2][9][11][13][14][16][22][28]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中心命题与证据地图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命题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关键证据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系统含义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CPU 已进入推理关键路径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CPU slowdown、PD 分离、KV read/write ratio、MoE orchestration [2][9][11][22]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GPU 上限越来越取决于 host 控制链路质量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CPU 问题本质是控制链路过长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persistent batch、CUDA graphs、KV transfer、decoupled residency [4][5][12][23]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优化重点是减少同步控制动作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KV 成为生命周期对象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NOSA、ScoutAttention、CoMEM、coherent memory、CXL [6][7][8][10][15]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状态分层、预取与恢复成为长期系统问题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MoE 抬高 host 编排价值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宽专家并行、预测预取、驻留解耦 [11][12][28][30]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稀疏激活降低计算量，但增加路由与搬运复杂度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平台围绕控制平面收敛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Vera、Rubin、BlueField-4、CPU:GPU 配比变化 [13][14][16]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平台开始显式为 host orchestration 让路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为什么 CPU 现在会变成关键变量</a:t>
            </a:r>
          </a:p>
        </p:txBody>
      </p:sp>
      <p:pic>
        <p:nvPicPr>
          <p:cNvPr descr="assets/cpu-centric-agentic-workflow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32000" y="1193800"/>
            <a:ext cx="5080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请求不再是单轮、连续、稳定的 decode 流</a:t>
            </a:r>
          </a:p>
          <a:p>
            <a:pPr lvl="0"/>
            <a:r>
              <a:rPr/>
              <a:t>状态不再是一次性中间产物，而是需要保留、恢复、分叉和复用的长期对象</a:t>
            </a:r>
          </a:p>
          <a:p>
            <a:pPr lvl="0"/>
            <a:r>
              <a:rPr/>
              <a:t>GPU 不再只依赖本地 HBM，而要与 host memory、CXL、网络存储和跨节点 worker 协同</a:t>
            </a:r>
          </a:p>
          <a:p>
            <a:pPr lvl="0"/>
            <a:r>
              <a:rPr/>
              <a:t>多代理、子会话和多模态 ingress 让 host 侧调度链路显著变长</a:t>
            </a:r>
          </a:p>
          <a:p>
            <a:pPr lvl="0" indent="0" marL="0">
              <a:buNone/>
            </a:pPr>
            <a:r>
              <a:rPr/>
              <a:t>来源：[9][22][24][26][27]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机制层之一：算子下发为何从开销变成瓶颈</a:t>
            </a:r>
          </a:p>
        </p:txBody>
      </p:sp>
      <p:pic>
        <p:nvPicPr>
          <p:cNvPr descr="assets/extracted/cpu-slowdown-0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76300" y="1193800"/>
            <a:ext cx="73914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 </a:t>
            </a:r>
          </a:p>
          <a:p>
            <a:pPr lvl="0"/>
            <a:r>
              <a:rPr/>
              <a:t>量化、小模型和高并发会把 GPU 计算片段切得更碎，固定的 host 提交成本被放大 [2][3][4][5]</a:t>
            </a:r>
          </a:p>
          <a:p>
            <a:pPr lvl="0"/>
            <a:r>
              <a:rPr/>
              <a:t>代表性数据：</a:t>
            </a:r>
            <a:r>
              <a:rPr>
                <a:latin typeface="Courier"/>
              </a:rPr>
              <a:t>301</a:t>
            </a:r>
            <a:r>
              <a:rPr/>
              <a:t> 次 kernel launch，约 </a:t>
            </a:r>
            <a:r>
              <a:rPr>
                <a:latin typeface="Courier"/>
              </a:rPr>
              <a:t>750us</a:t>
            </a:r>
            <a:r>
              <a:rPr/>
              <a:t> 纯下发税；fusion 后吞吐提升约 </a:t>
            </a:r>
            <a:r>
              <a:rPr>
                <a:latin typeface="Courier"/>
              </a:rPr>
              <a:t>20%</a:t>
            </a:r>
            <a:r>
              <a:rPr/>
              <a:t> [3]</a:t>
            </a:r>
          </a:p>
          <a:p>
            <a:pPr lvl="0"/>
            <a:r>
              <a:rPr/>
              <a:t>多 GPU serving 中，host 抖动会被同步机制放大：dequeue 延迟可从 </a:t>
            </a:r>
            <a:r>
              <a:rPr>
                <a:latin typeface="Courier"/>
              </a:rPr>
              <a:t>12 ms</a:t>
            </a:r>
            <a:r>
              <a:rPr/>
              <a:t> 恶化到 </a:t>
            </a:r>
            <a:r>
              <a:rPr>
                <a:latin typeface="Courier"/>
              </a:rPr>
              <a:t>228 ms</a:t>
            </a:r>
            <a:r>
              <a:rPr/>
              <a:t>，约 </a:t>
            </a:r>
            <a:r>
              <a:rPr>
                <a:latin typeface="Courier"/>
              </a:rPr>
              <a:t>19x</a:t>
            </a:r>
            <a:r>
              <a:rPr/>
              <a:t> [2]</a:t>
            </a:r>
          </a:p>
          <a:p>
            <a:pPr lvl="0"/>
            <a:r>
              <a:rPr/>
              <a:t>在 agentic inference 中，请求更像“多次被暂停、恢复、重入的推理片段”，host 必须频繁处理 </a:t>
            </a:r>
            <a:r>
              <a:rPr>
                <a:latin typeface="Courier"/>
              </a:rPr>
              <a:t>stage transition</a:t>
            </a:r>
            <a:r>
              <a:rPr/>
              <a:t>、</a:t>
            </a:r>
            <a:r>
              <a:rPr>
                <a:latin typeface="Courier"/>
              </a:rPr>
              <a:t>context placement</a:t>
            </a:r>
            <a:r>
              <a:rPr/>
              <a:t> 和 </a:t>
            </a:r>
            <a:r>
              <a:rPr>
                <a:latin typeface="Courier"/>
              </a:rPr>
              <a:t>resume</a:t>
            </a:r>
          </a:p>
          <a:p>
            <a:pPr lvl="0"/>
            <a:r>
              <a:rPr>
                <a:latin typeface="Courier"/>
              </a:rPr>
              <a:t>Prefill-as-a-Service</a:t>
            </a:r>
            <a:r>
              <a:rPr/>
              <a:t> 进一步把这条链延伸到跨域：远端 prefill、KV 回传、prefix cache 感知放置和带宽感知调度都落在 host 控制面 [31]</a:t>
            </a:r>
          </a:p>
          <a:p>
            <a:pPr lvl="0"/>
            <a:r>
              <a:rPr/>
              <a:t>有效优化共同目标不是提高 CPU 算力，而是减少 </a:t>
            </a:r>
            <a:r>
              <a:rPr>
                <a:latin typeface="Courier"/>
              </a:rPr>
              <a:t>host touch frequency / jitter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机制层之二：KV 为何从容量问题变成生命周期问题</a:t>
            </a:r>
          </a:p>
        </p:txBody>
      </p:sp>
      <p:pic>
        <p:nvPicPr>
          <p:cNvPr descr="assets/nvidia-dynamo-agentic-kv-readwrite-2026.webp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32000" y="1193800"/>
            <a:ext cx="5080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 </a:t>
            </a:r>
          </a:p>
          <a:p>
            <a:pPr lvl="0"/>
            <a:r>
              <a:rPr/>
              <a:t>最关键证据不是“KV 很大”，而是访问模式变了：</a:t>
            </a:r>
            <a:r>
              <a:rPr>
                <a:latin typeface="Courier"/>
              </a:rPr>
              <a:t>read/write ratio = 11.7x</a:t>
            </a:r>
            <a:r>
              <a:rPr/>
              <a:t>，系统更像在“恢复旧状态”而不是“持续写新状态” [9]</a:t>
            </a:r>
          </a:p>
          <a:p>
            <a:pPr lvl="0"/>
            <a:r>
              <a:rPr/>
              <a:t>KV 不再只是上下文副产物，而是可跨轮次保留、可跨 worker 转移、可被多个子代理复用的长期状态</a:t>
            </a:r>
          </a:p>
          <a:p>
            <a:pPr lvl="0"/>
            <a:r>
              <a:rPr>
                <a:latin typeface="Courier"/>
              </a:rPr>
              <a:t>NOSA</a:t>
            </a:r>
            <a:r>
              <a:rPr/>
              <a:t> 最高 </a:t>
            </a:r>
            <a:r>
              <a:rPr>
                <a:latin typeface="Courier"/>
              </a:rPr>
              <a:t>5.04x</a:t>
            </a:r>
            <a:r>
              <a:rPr/>
              <a:t> 解码吞吐提升，</a:t>
            </a:r>
            <a:r>
              <a:rPr>
                <a:latin typeface="Courier"/>
              </a:rPr>
              <a:t>ScoutAttention</a:t>
            </a:r>
            <a:r>
              <a:rPr/>
              <a:t> 约 </a:t>
            </a:r>
            <a:r>
              <a:rPr>
                <a:latin typeface="Courier"/>
              </a:rPr>
              <a:t>2.1x</a:t>
            </a:r>
            <a:r>
              <a:rPr/>
              <a:t> 加速且精度损失 &lt; </a:t>
            </a:r>
            <a:r>
              <a:rPr>
                <a:latin typeface="Courier"/>
              </a:rPr>
              <a:t>2.4%</a:t>
            </a:r>
            <a:r>
              <a:rPr/>
              <a:t> [6][7]</a:t>
            </a:r>
          </a:p>
          <a:p>
            <a:pPr lvl="0"/>
            <a:r>
              <a:rPr/>
              <a:t>CPU 角色已从“搬运工”变成 </a:t>
            </a:r>
            <a:r>
              <a:rPr>
                <a:latin typeface="Courier"/>
              </a:rPr>
              <a:t>warm-tier manager</a:t>
            </a:r>
            <a:r>
              <a:rPr/>
              <a:t>：负责 placement、prefetch 和 resume path control</a:t>
            </a:r>
          </a:p>
          <a:p>
            <a:pPr lvl="0"/>
            <a:r>
              <a:rPr/>
              <a:t>机头 CPU 选型关键指标转向：主机内存带宽、一致性互连、NUMA 摩擦、大容量内存挂接能力、恢复路径尾延迟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KV 分层经济学与部署含义</a:t>
            </a:r>
          </a:p>
        </p:txBody>
      </p:sp>
      <p:pic>
        <p:nvPicPr>
          <p:cNvPr descr="assets/cpu-gpu-unified-memory.webp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32000" y="1193800"/>
            <a:ext cx="5080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 </a:t>
            </a:r>
          </a:p>
          <a:p>
            <a:pPr lvl="0"/>
            <a:r>
              <a:rPr/>
              <a:t>现代状态层级不应再简化为 </a:t>
            </a:r>
            <a:r>
              <a:rPr>
                <a:latin typeface="Courier"/>
              </a:rPr>
              <a:t>HBM vs DRAM</a:t>
            </a:r>
            <a:r>
              <a:rPr/>
              <a:t>，而是：</a:t>
            </a:r>
            <a:r>
              <a:rPr>
                <a:latin typeface="Courier"/>
              </a:rPr>
              <a:t>HBM -&gt; coherent CPU memory -&gt; host DRAM -&gt; CXL -&gt; storage</a:t>
            </a:r>
          </a:p>
          <a:p>
            <a:pPr lvl="0"/>
            <a:r>
              <a:rPr/>
              <a:t>CXL 的意义不是单纯扩容，而是把两层内存策略升级为多层状态策略 [10][15][29]</a:t>
            </a:r>
          </a:p>
          <a:p>
            <a:pPr lvl="0"/>
            <a:r>
              <a:rPr/>
              <a:t>代表性产业建模：GPU 需求下降 </a:t>
            </a:r>
            <a:r>
              <a:rPr>
                <a:latin typeface="Courier"/>
              </a:rPr>
              <a:t>87%</a:t>
            </a:r>
            <a:r>
              <a:rPr/>
              <a:t>、GPU 利用率提升 </a:t>
            </a:r>
            <a:r>
              <a:rPr>
                <a:latin typeface="Courier"/>
              </a:rPr>
              <a:t>75%</a:t>
            </a:r>
            <a:r>
              <a:rPr/>
              <a:t>、CPU 利用率下降 </a:t>
            </a:r>
            <a:r>
              <a:rPr>
                <a:latin typeface="Courier"/>
              </a:rPr>
              <a:t>40%</a:t>
            </a:r>
            <a:r>
              <a:rPr/>
              <a:t>、并发实例约 </a:t>
            </a:r>
            <a:r>
              <a:rPr>
                <a:latin typeface="Courier"/>
              </a:rPr>
              <a:t>2x</a:t>
            </a:r>
            <a:r>
              <a:rPr/>
              <a:t> [15]</a:t>
            </a:r>
          </a:p>
          <a:p>
            <a:pPr lvl="0"/>
            <a:r>
              <a:rPr/>
              <a:t>关键问题不再是“能不能放下”，而是“热对象留在哪、冷对象放到哪、即将恢复对象何时拉回”</a:t>
            </a:r>
          </a:p>
          <a:p>
            <a:pPr lvl="0"/>
            <a:r>
              <a:rPr/>
              <a:t>结论：CPU 不只是承载层，而是状态层级决策与迁移执行的中心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机制层之三：MoE 为何把 host 编排推到前台</a:t>
            </a:r>
          </a:p>
        </p:txBody>
      </p:sp>
      <p:pic>
        <p:nvPicPr>
          <p:cNvPr descr="assets/nvidia-wide-ep-moe-2025.webp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32000" y="1193800"/>
            <a:ext cx="5080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 </a:t>
            </a:r>
          </a:p>
          <a:p>
            <a:pPr lvl="0"/>
            <a:r>
              <a:rPr/>
              <a:t>MoE 节省的是每 token 激活计算，不是系统编排复杂度</a:t>
            </a:r>
          </a:p>
          <a:p>
            <a:pPr lvl="0"/>
            <a:r>
              <a:rPr/>
              <a:t>一旦 expert 总量超出单节点 GPU 驻留能力，系统压力迅速集中到三处：</a:t>
            </a:r>
            <a:r>
              <a:rPr>
                <a:latin typeface="Courier"/>
              </a:rPr>
              <a:t>expert routing</a:t>
            </a:r>
            <a:r>
              <a:rPr/>
              <a:t>、</a:t>
            </a:r>
            <a:r>
              <a:rPr>
                <a:latin typeface="Courier"/>
              </a:rPr>
              <a:t>weight residency/prefetch</a:t>
            </a:r>
            <a:r>
              <a:rPr/>
              <a:t>、</a:t>
            </a:r>
            <a:r>
              <a:rPr>
                <a:latin typeface="Courier"/>
              </a:rPr>
              <a:t>collective orchestration</a:t>
            </a:r>
          </a:p>
          <a:p>
            <a:pPr lvl="0"/>
            <a:r>
              <a:rPr>
                <a:latin typeface="Courier"/>
              </a:rPr>
              <a:t>Speculating Experts</a:t>
            </a:r>
            <a:r>
              <a:rPr/>
              <a:t> 通过预测预取把同步搬运改成异步路径，TPOT 下降约 </a:t>
            </a:r>
            <a:r>
              <a:rPr>
                <a:latin typeface="Courier"/>
              </a:rPr>
              <a:t>14%</a:t>
            </a:r>
            <a:r>
              <a:rPr/>
              <a:t> [11]</a:t>
            </a:r>
          </a:p>
          <a:p>
            <a:pPr lvl="0"/>
            <a:r>
              <a:rPr>
                <a:latin typeface="Courier"/>
              </a:rPr>
              <a:t>FluxMoE</a:t>
            </a:r>
            <a:r>
              <a:rPr/>
              <a:t> 通过 </a:t>
            </a:r>
            <a:r>
              <a:rPr>
                <a:latin typeface="Courier"/>
              </a:rPr>
              <a:t>decoupled residency</a:t>
            </a:r>
            <a:r>
              <a:rPr/>
              <a:t> 把逻辑 expert 身份与物理驻留位置分离 [12]</a:t>
            </a:r>
          </a:p>
          <a:p>
            <a:pPr lvl="0"/>
            <a:r>
              <a:rPr/>
              <a:t>MoE 在 agentic workload 下会与 KV 生命周期竞争同一组 host 预算：内存带宽、恢复窗口、调度优先级、跨层传输机会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场景层验证：真实工作负载如何放大 CPU 压力</a:t>
            </a:r>
          </a:p>
        </p:txBody>
      </p:sp>
      <p:pic>
        <p:nvPicPr>
          <p:cNvPr descr="assets/vllm-disagg-prefill-overview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501900" y="1193800"/>
            <a:ext cx="4127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工作负载修正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对应 CPU 压力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最容易被低估的点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prefill-first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高频输入重整、batch 重组、worker 选择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host 比 GPU 更早被打满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session multiplicity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per-session queue、admission control、placement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难点不是单上下文太长，而是活跃上下文太多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fan-out/fan-in burst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瞬时宽并发、聚合调度、尾延迟控制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平均吞吐无法描述真实压力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multimodal ingress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输入准备、会话绑定、状态更新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视觉/界面状态重入会放大 prefill churn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来源：[22][24][25][26][27]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案例化对比：四类 agentic 产品形态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案例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公开形态特征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对应的推理侧 CPU 约束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最容易被低估的点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Claude Code subagents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子代理独立上下文、按任务拆分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session multiplicity</a:t>
                      </a:r>
                      <a:r>
                        <a:rPr/>
                        <a:t>、resume、placement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不是单上下文太长，而是同时活跃 context 太多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Kimi Swarm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多 agent 并行、分解后再聚合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fan-out/fan-in burst</a:t>
                      </a:r>
                      <a:r>
                        <a:rPr/>
                        <a:t>、admission control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压力来自瞬时宽并发和汇聚尾延迟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OpenClaw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常驻、多入口、移动/视觉交互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multimodal prefill churn</a:t>
                      </a:r>
                      <a:r>
                        <a:rPr/>
                        <a:t>、状态切换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视觉状态重入会拉高 prefill 频率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Mobile Use Agent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手机 GUI、多模态交互、链式推进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高频 prefill、短 decode、resume-heavy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即便不算操作执行，视觉输入重入也会放大 host 排队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结论：产品表面不同，但最终都把压力汇聚到 </a:t>
            </a:r>
            <a:r>
              <a:rPr>
                <a:latin typeface="Courier"/>
              </a:rPr>
              <a:t>session scheduling</a:t>
            </a:r>
            <a:r>
              <a:rPr/>
              <a:t>、</a:t>
            </a:r>
            <a:r>
              <a:rPr>
                <a:latin typeface="Courier"/>
              </a:rPr>
              <a:t>prefill orchestration</a:t>
            </a:r>
            <a:r>
              <a:rPr/>
              <a:t>、</a:t>
            </a:r>
            <a:r>
              <a:rPr>
                <a:latin typeface="Courier"/>
              </a:rPr>
              <a:t>resume latency</a:t>
            </a:r>
            <a:r>
              <a:rPr/>
              <a:t>、</a:t>
            </a:r>
            <a:r>
              <a:rPr>
                <a:latin typeface="Courier"/>
              </a:rPr>
              <a:t>burst handling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平台层验证：平台为何围绕 CPU 控制平面重组</a:t>
            </a:r>
          </a:p>
        </p:txBody>
      </p:sp>
      <p:pic>
        <p:nvPicPr>
          <p:cNvPr descr="assets/nvidia-vera-cpu-architectur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25500" y="1193800"/>
            <a:ext cx="7505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 </a:t>
            </a:r>
          </a:p>
          <a:p>
            <a:pPr lvl="0"/>
            <a:r>
              <a:rPr/>
              <a:t>Vera 关键信号：</a:t>
            </a:r>
            <a:r>
              <a:rPr>
                <a:latin typeface="Courier"/>
              </a:rPr>
              <a:t>88</a:t>
            </a:r>
            <a:r>
              <a:rPr/>
              <a:t> 个 Arm 核、</a:t>
            </a:r>
            <a:r>
              <a:rPr>
                <a:latin typeface="Courier"/>
              </a:rPr>
              <a:t>1.2 TB/s</a:t>
            </a:r>
            <a:r>
              <a:rPr/>
              <a:t> LPDDR5X 带宽、</a:t>
            </a:r>
            <a:r>
              <a:rPr>
                <a:latin typeface="Courier"/>
              </a:rPr>
              <a:t>1.8 TB/s</a:t>
            </a:r>
            <a:r>
              <a:rPr/>
              <a:t> NVLink-C2C [13][14][17]</a:t>
            </a:r>
          </a:p>
          <a:p>
            <a:pPr lvl="0"/>
            <a:r>
              <a:rPr/>
              <a:t>含义不是“CPU 又成了主角”，而是平台承认控制平面会反复进入推理关键路径</a:t>
            </a:r>
          </a:p>
          <a:p>
            <a:pPr lvl="0"/>
            <a:r>
              <a:rPr/>
              <a:t>一体化平台把 CPU、GPU、DPU、交换结构组织成更低抖动的整体链路，以降低状态迁移和阶段切换摩擦 [14][22][28]</a:t>
            </a:r>
          </a:p>
          <a:p>
            <a:pPr lvl="0"/>
            <a:r>
              <a:rPr/>
              <a:t>CPU:GPU 配比正在从 </a:t>
            </a:r>
            <a:r>
              <a:rPr>
                <a:latin typeface="Courier"/>
              </a:rPr>
              <a:t>1:4–1:8</a:t>
            </a:r>
            <a:r>
              <a:rPr/>
              <a:t> 向 </a:t>
            </a:r>
            <a:r>
              <a:rPr>
                <a:latin typeface="Courier"/>
              </a:rPr>
              <a:t>1:1–1:2</a:t>
            </a:r>
            <a:r>
              <a:rPr/>
              <a:t> 演进，反映的是“GPU 进步快于控制平面进步”的系统失衡 [16][18][19][20][21]</a:t>
            </a:r>
          </a:p>
          <a:p>
            <a:pPr lvl="0"/>
            <a:r>
              <a:rPr/>
              <a:t>平台层的真正变化不是“CPU 更强”，而是“CPU 更靠前”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工程落地：部署分层与 CPU 选型</a:t>
            </a:r>
          </a:p>
        </p:txBody>
      </p:sp>
      <p:pic>
        <p:nvPicPr>
          <p:cNvPr descr="assets/nvidia-bluefield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638300"/>
            <a:ext cx="8229600" cy="2501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节点角色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主要关注点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更像什么节点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co-located GPU node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近端一致性互连、主机内存带宽、恢复路径延迟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执行+恢复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prefill-heavy ingress node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高频 prefill 调度稳定性、输入处理能力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前端控制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capacity-oriented state node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大容量 host memory、CXL、分层成本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状态管理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coordination-heavy swarm node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多会话调度、burst handling、尾延迟隔离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协调密集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remote prefill service node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长上下文 prefill 吞吐、跨域带宽感知调度、prefix cache 感知放置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远端 prefill 服务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部署建议不是经验清单，而是由前文机制链直接推导出的工程约束</a:t>
            </a:r>
          </a:p>
          <a:p>
            <a:pPr lvl="0"/>
            <a:r>
              <a:rPr/>
              <a:t>DPU / SuperNIC 的价值在于给 CPU 让路：把网络、存储、安全数据面旁路出去，释放推理控制预算 [14][22]</a:t>
            </a:r>
          </a:p>
          <a:p>
            <a:pPr lvl="0"/>
            <a:r>
              <a:rPr/>
              <a:t>CPU 选型关键问题：是否 </a:t>
            </a:r>
            <a:r>
              <a:rPr>
                <a:latin typeface="Courier"/>
              </a:rPr>
              <a:t>prefill-heavy</a:t>
            </a:r>
            <a:r>
              <a:rPr/>
              <a:t> / </a:t>
            </a:r>
            <a:r>
              <a:rPr>
                <a:latin typeface="Courier"/>
              </a:rPr>
              <a:t>resume-heavy</a:t>
            </a:r>
            <a:r>
              <a:rPr/>
              <a:t>；是否把 host memory 当 warm tier；是否存在大量 </a:t>
            </a:r>
            <a:r>
              <a:rPr>
                <a:latin typeface="Courier"/>
              </a:rPr>
              <a:t>session multiplicity</a:t>
            </a:r>
            <a:r>
              <a:rPr/>
              <a:t> 或 </a:t>
            </a:r>
            <a:r>
              <a:rPr>
                <a:latin typeface="Courier"/>
              </a:rPr>
              <a:t>fan-out/fan-in burst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评测与研究议程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评测维度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要测什么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对应机制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dispatch latency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请求进入到 GPU 有效开算之间的 host 延迟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算子下发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resume latency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状态从 warm/cold tier 恢复回计算路径的延迟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KV 生命周期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session concurrency quality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多会话并存时的公平性与尾延迟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真实 workload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burst robustness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fan-out/fan-in 宽并发下的退化曲线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场景层验证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tiering efficiency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KV / expert / context 在多层内存中的放置与迁移效率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KV + MoE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当前研究三条断层：</a:t>
            </a:r>
            <a:r>
              <a:rPr>
                <a:latin typeface="Courier"/>
              </a:rPr>
              <a:t>产品到机制</a:t>
            </a:r>
            <a:r>
              <a:rPr/>
              <a:t>、</a:t>
            </a:r>
            <a:r>
              <a:rPr>
                <a:latin typeface="Courier"/>
              </a:rPr>
              <a:t>平台到软件</a:t>
            </a:r>
            <a:r>
              <a:rPr/>
              <a:t>、</a:t>
            </a:r>
            <a:r>
              <a:rPr>
                <a:latin typeface="Courier"/>
              </a:rPr>
              <a:t>局部优化到系统目标</a:t>
            </a:r>
          </a:p>
          <a:p>
            <a:pPr lvl="0"/>
            <a:r>
              <a:rPr/>
              <a:t>后续议程：建立 </a:t>
            </a:r>
            <a:r>
              <a:rPr>
                <a:latin typeface="Courier"/>
              </a:rPr>
              <a:t>agentic inference host benchmark</a:t>
            </a:r>
            <a:r>
              <a:rPr/>
              <a:t>，研究 </a:t>
            </a:r>
            <a:r>
              <a:rPr>
                <a:latin typeface="Courier"/>
              </a:rPr>
              <a:t>state-centric scheduling</a:t>
            </a:r>
            <a:r>
              <a:rPr/>
              <a:t>、</a:t>
            </a:r>
            <a:r>
              <a:rPr>
                <a:latin typeface="Courier"/>
              </a:rPr>
              <a:t>control-plane-aware serving</a:t>
            </a:r>
            <a:r>
              <a:rPr/>
              <a:t>、</a:t>
            </a:r>
            <a:r>
              <a:rPr>
                <a:latin typeface="Courier"/>
              </a:rPr>
              <a:t>platform-software co-design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关键数据总表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主题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关键数据点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含义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算子下发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301</a:t>
                      </a:r>
                      <a:r>
                        <a:rPr/>
                        <a:t> 次 kernel launch，约 </a:t>
                      </a:r>
                      <a:r>
                        <a:rPr>
                          <a:latin typeface="Courier"/>
                        </a:rPr>
                        <a:t>750us</a:t>
                      </a:r>
                      <a:r>
                        <a:rPr/>
                        <a:t> 纯下发税，fusion 后吞吐约 </a:t>
                      </a:r>
                      <a:r>
                        <a:rPr>
                          <a:latin typeface="Courier"/>
                        </a:rPr>
                        <a:t>+20%</a:t>
                      </a:r>
                      <a:r>
                        <a:rPr/>
                        <a:t> [3]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小模型与量化场景下，host 固定成本迅速成为上限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CPU 抖动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dequeue 延迟从 </a:t>
                      </a:r>
                      <a:r>
                        <a:rPr>
                          <a:latin typeface="Courier"/>
                        </a:rPr>
                        <a:t>12 ms</a:t>
                      </a:r>
                      <a:r>
                        <a:rPr/>
                        <a:t> 恶化到 </a:t>
                      </a:r>
                      <a:r>
                        <a:rPr>
                          <a:latin typeface="Courier"/>
                        </a:rPr>
                        <a:t>228 ms</a:t>
                      </a:r>
                      <a:r>
                        <a:rPr/>
                        <a:t>，约 </a:t>
                      </a:r>
                      <a:r>
                        <a:rPr>
                          <a:latin typeface="Courier"/>
                        </a:rPr>
                        <a:t>19x</a:t>
                      </a:r>
                      <a:r>
                        <a:rPr/>
                        <a:t> [2]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CPU oversubscription 可放大为集群级停顿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推理引擎优化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vLLM V1 吞吐相对 V0 最高约 </a:t>
                      </a:r>
                      <a:r>
                        <a:rPr>
                          <a:latin typeface="Courier"/>
                        </a:rPr>
                        <a:t>1.7x</a:t>
                      </a:r>
                      <a:r>
                        <a:rPr/>
                        <a:t> [5]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大量收益来自减少 CPU 调度和 Python 开销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KV 访问模式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KV read/write ratio </a:t>
                      </a:r>
                      <a:r>
                        <a:rPr>
                          <a:latin typeface="Courier"/>
                        </a:rPr>
                        <a:t>11.7x</a:t>
                      </a:r>
                      <a:r>
                        <a:rPr/>
                        <a:t> [9]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更像状态恢复问题，而非单纯写入问题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KV 卸载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NOSA 最高 </a:t>
                      </a:r>
                      <a:r>
                        <a:rPr>
                          <a:latin typeface="Courier"/>
                        </a:rPr>
                        <a:t>5.04x</a:t>
                      </a:r>
                      <a:r>
                        <a:rPr/>
                        <a:t> 解码吞吐提升 [6]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减少 CPU-GPU KV 传输是核心收益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协同式卸载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ScoutAttention 约 </a:t>
                      </a:r>
                      <a:r>
                        <a:rPr>
                          <a:latin typeface="Courier"/>
                        </a:rPr>
                        <a:t>2.1x</a:t>
                      </a:r>
                      <a:r>
                        <a:rPr/>
                        <a:t> 加速，精度损失 &lt; </a:t>
                      </a:r>
                      <a:r>
                        <a:rPr>
                          <a:latin typeface="Courier"/>
                        </a:rPr>
                        <a:t>2.4%</a:t>
                      </a:r>
                      <a:r>
                        <a:rPr/>
                        <a:t> [7]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CPU 可从搬运者变成协同计算者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CXL 分层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GPU 需求 </a:t>
                      </a:r>
                      <a:r>
                        <a:rPr>
                          <a:latin typeface="Courier"/>
                        </a:rPr>
                        <a:t>-87%</a:t>
                      </a:r>
                      <a:r>
                        <a:rPr/>
                        <a:t>，GPU 利用率 </a:t>
                      </a:r>
                      <a:r>
                        <a:rPr>
                          <a:latin typeface="Courier"/>
                        </a:rPr>
                        <a:t>+75%</a:t>
                      </a:r>
                      <a:r>
                        <a:rPr/>
                        <a:t>，CPU 利用率 </a:t>
                      </a:r>
                      <a:r>
                        <a:rPr>
                          <a:latin typeface="Courier"/>
                        </a:rPr>
                        <a:t>-40%</a:t>
                      </a:r>
                      <a:r>
                        <a:rPr/>
                        <a:t> [15]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KV 分层已进入容量-性能-成本联合优化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MoE 预取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TPOT 下降约 </a:t>
                      </a:r>
                      <a:r>
                        <a:rPr>
                          <a:latin typeface="Courier"/>
                        </a:rPr>
                        <a:t>14%</a:t>
                      </a:r>
                      <a:r>
                        <a:rPr/>
                        <a:t> [11]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expert 预取能把同步搬运改成异步路径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Prefill-as-a-Service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相对同构 PD 吞吐 </a:t>
                      </a:r>
                      <a:r>
                        <a:rPr>
                          <a:latin typeface="Courier"/>
                        </a:rPr>
                        <a:t>+54%</a:t>
                      </a:r>
                      <a:r>
                        <a:rPr/>
                        <a:t>，相对朴素异构基线 </a:t>
                      </a:r>
                      <a:r>
                        <a:rPr>
                          <a:latin typeface="Courier"/>
                        </a:rPr>
                        <a:t>+32%</a:t>
                      </a:r>
                      <a:r>
                        <a:rPr/>
                        <a:t> [31]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PD 分离正扩展为跨数据中心和 cache-aware 的 CPU 协调问题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平台规格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Vera 内存带宽 </a:t>
                      </a:r>
                      <a:r>
                        <a:rPr>
                          <a:latin typeface="Courier"/>
                        </a:rPr>
                        <a:t>1.2 TB/s</a:t>
                      </a:r>
                      <a:r>
                        <a:rPr/>
                        <a:t>，NVLink-C2C </a:t>
                      </a:r>
                      <a:r>
                        <a:rPr>
                          <a:latin typeface="Courier"/>
                        </a:rPr>
                        <a:t>1.8 TB/s</a:t>
                      </a:r>
                      <a:r>
                        <a:rPr/>
                        <a:t> [13]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平台已按 CPU 控制平面需求组织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产业配比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CPU:GPU 由 </a:t>
                      </a:r>
                      <a:r>
                        <a:rPr>
                          <a:latin typeface="Courier"/>
                        </a:rPr>
                        <a:t>1:4–1:8</a:t>
                      </a:r>
                      <a:r>
                        <a:rPr/>
                        <a:t> 向 </a:t>
                      </a:r>
                      <a:r>
                        <a:rPr>
                          <a:latin typeface="Courier"/>
                        </a:rPr>
                        <a:t>1:1–1:2</a:t>
                      </a:r>
                      <a:r>
                        <a:rPr/>
                        <a:t> 演进 [16]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部署预算开始向 host 侧回流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agentic inference</a:t>
            </a:r>
            <a:r>
              <a:rPr/>
              <a:t> 并未削弱 GPU 的重要性，而是改变了 GPU 发挥价值的前提</a:t>
            </a:r>
          </a:p>
          <a:p>
            <a:pPr lvl="0"/>
            <a:r>
              <a:rPr/>
              <a:t>机头 CPU 的新位置不是“辅助计算”，而是 </a:t>
            </a:r>
            <a:r>
              <a:rPr>
                <a:latin typeface="Courier"/>
              </a:rPr>
              <a:t>dispatch + tiering + transfer + coordination</a:t>
            </a:r>
          </a:p>
          <a:p>
            <a:pPr lvl="0"/>
            <a:r>
              <a:rPr/>
              <a:t>只要系统继续沿着多阶段、多代理、多模态和长生命周期方向发展，CPU 就会持续停留在关键路径</a:t>
            </a:r>
          </a:p>
          <a:p>
            <a:pPr lvl="0"/>
            <a:r>
              <a:rPr/>
              <a:t>因此，后续优化不应只围绕“更快的 GPU”，而应围绕“更稳定的控制平面”</a:t>
            </a:r>
          </a:p>
          <a:p>
            <a:pPr lvl="0" indent="0" marL="0">
              <a:buNone/>
            </a:pPr>
            <a:r>
              <a:rPr/>
              <a:t>来源：综合 [2][9][11][13][14][22][24][28]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推理中机头 CPU 的系统作用</dc:title>
  <dc:creator>OpenAI Codex</dc:creator>
  <cp:keywords/>
  <dcterms:created xsi:type="dcterms:W3CDTF">2026-04-25T08:43:23Z</dcterms:created>
  <dcterms:modified xsi:type="dcterms:W3CDTF">2026-04-25T08:43:23Z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2026-04-25</vt:lpwstr>
  </property>
  <property fmtid="{D5CDD505-2E9C-101B-9397-08002B2CF9AE}" pid="3" name="subtitle">
    <vt:lpwstr>高信息密度汇报稿</vt:lpwstr>
  </property>
</Properties>
</file>